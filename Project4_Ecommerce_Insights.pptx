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DCCEE"/>
                </a:solidFill>
                <a:latin typeface="Aptos"/>
              </a:defRPr>
            </a:pPr>
            <a:r>
              <a:t>DECODELABS •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E-commerce Orders:</a:t>
            </a:r>
            <a:br/>
            <a:r>
              <a:t>Revenue &amp; Customer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03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DE6F1"/>
                </a:solidFill>
                <a:latin typeface="Aptos"/>
              </a:defRPr>
            </a:pPr>
            <a:r>
              <a:t>Project 4 | Data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0749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E6F1"/>
                </a:solidFill>
                <a:latin typeface="Aptos"/>
              </a:defRPr>
            </a:pPr>
            <a:r>
              <a:t>Dataset period: January 2023 – June 2025  |  1,200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DCCEE"/>
                </a:solidFill>
                <a:latin typeface="Aptos"/>
              </a:defRPr>
            </a:pPr>
            <a:r>
              <a:t>Source: Cleaned E-commerce Orders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233B"/>
                </a:solidFill>
                <a:latin typeface="Aptos"/>
              </a:defRPr>
            </a:pPr>
            <a:r>
              <a:t>Sales performance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382"/>
                </a:solidFill>
                <a:latin typeface="Aptos"/>
              </a:defRPr>
            </a:pPr>
            <a:r>
              <a:t>The dataset contains 1,200 orders across Jan 2023–Jun 2025.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658368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5166360" cy="1508760"/>
          </a:xfrm>
          <a:prstGeom prst="roundRect">
            <a:avLst/>
          </a:prstGeom>
          <a:solidFill>
            <a:srgbClr val="EFF4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67382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66C2"/>
                </a:solidFill>
                <a:latin typeface="Aptos"/>
              </a:defRPr>
            </a:pPr>
            <a:r>
              <a:t>1,264,761.96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166360" cy="1508760"/>
          </a:xfrm>
          <a:prstGeom prst="roundRect">
            <a:avLst/>
          </a:prstGeom>
          <a:solidFill>
            <a:srgbClr val="EFF4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67382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58568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66C2"/>
                </a:solidFill>
                <a:latin typeface="Aptos"/>
              </a:defRPr>
            </a:pPr>
            <a:r>
              <a:t>1,200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11880"/>
            <a:ext cx="5166360" cy="1508760"/>
          </a:xfrm>
          <a:prstGeom prst="roundRect">
            <a:avLst/>
          </a:prstGeom>
          <a:solidFill>
            <a:srgbClr val="EFF4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67382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24528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66C2"/>
                </a:solidFill>
                <a:latin typeface="Aptos"/>
              </a:defRPr>
            </a:pPr>
            <a:r>
              <a:t>1,053.97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11880"/>
            <a:ext cx="5166360" cy="1508760"/>
          </a:xfrm>
          <a:prstGeom prst="roundRect">
            <a:avLst/>
          </a:prstGeom>
          <a:solidFill>
            <a:srgbClr val="EFF4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67382"/>
                </a:solidFill>
                <a:latin typeface="Aptos"/>
              </a:defRPr>
            </a:pPr>
            <a:r>
              <a:t>DATA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24528"/>
            <a:ext cx="4663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66C2"/>
                </a:solidFill>
                <a:latin typeface="Aptos"/>
              </a:defRPr>
            </a:pPr>
            <a:r>
              <a:t>Jan 2023 – Jun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441"/>
                </a:solidFill>
                <a:latin typeface="Aptos"/>
              </a:defRPr>
            </a:pPr>
            <a:r>
              <a:t>These KPIs establish the scale of the dataset before exploring revenue patterns.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7382"/>
                </a:solidFill>
                <a:latin typeface="Aptos"/>
              </a:defRPr>
            </a:pPr>
            <a:r>
              <a:t>Source: Cleaned E-commerce Orders Dataset, Jan 2023 – Jun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233B"/>
                </a:solidFill>
                <a:latin typeface="Aptos"/>
              </a:defRPr>
            </a:pPr>
            <a:r>
              <a:t>Chair and Printer lead product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382"/>
                </a:solidFill>
                <a:latin typeface="Aptos"/>
              </a:defRPr>
            </a:pPr>
            <a:r>
              <a:t>Chair and Printer each generate about 196K; Phone is lowest at about 152K.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658368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7382"/>
                </a:solidFill>
                <a:latin typeface="Aptos"/>
              </a:defRPr>
            </a:pPr>
            <a:r>
              <a:t>Source: Cleaned E-commerce Orders Dataset, Jan 2023 – Jun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233B"/>
                </a:solidFill>
                <a:latin typeface="Aptos"/>
              </a:defRPr>
            </a:pPr>
            <a:r>
              <a:t>Instagram is the leading referral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382"/>
                </a:solidFill>
                <a:latin typeface="Aptos"/>
              </a:defRPr>
            </a:pPr>
            <a:r>
              <a:t>Instagram contributes approximately 275K in revenue (about 21.8% of total).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658368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7382"/>
                </a:solidFill>
                <a:latin typeface="Aptos"/>
              </a:defRPr>
            </a:pPr>
            <a:r>
              <a:t>Source: Cleaned E-commerce Orders Dataset, Jan 2023 – Jun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233B"/>
                </a:solidFill>
                <a:latin typeface="Aptos"/>
              </a:defRPr>
            </a:pPr>
            <a:r>
              <a:t>Monthly revenue fluctuates rather than following a steady 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382"/>
                </a:solidFill>
                <a:latin typeface="Aptos"/>
              </a:defRPr>
            </a:pPr>
            <a:r>
              <a:t>Revenue varies month to month; the highest month is June 2024 at 68,069.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658368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90956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874519"/>
            <a:ext cx="3063240" cy="2423160"/>
          </a:xfrm>
          <a:prstGeom prst="roundRect">
            <a:avLst/>
          </a:prstGeom>
          <a:solidFill>
            <a:srgbClr val="EFF4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66C2"/>
                </a:solidFill>
                <a:latin typeface="Aptos"/>
              </a:defRPr>
            </a:pPr>
            <a:r>
              <a:t>BUSINESS COMPLICATION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5176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A3441"/>
                </a:solidFill>
                <a:latin typeface="Aptos"/>
              </a:defRPr>
            </a:pPr>
            <a:r>
              <a:t>Uneven monthly revenue makes it harder to plan inventory, campaigns, and cash flow confidently.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452628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67382"/>
                </a:solidFill>
                <a:latin typeface="Aptos"/>
              </a:defRPr>
            </a:pPr>
            <a:r>
              <a:t>Next: investigate drivers of peaks and dips by month and channel.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7382"/>
                </a:solidFill>
                <a:latin typeface="Aptos"/>
              </a:defRPr>
            </a:pPr>
            <a:r>
              <a:t>Source: Cleaned E-commerce Orders Dataset, Jan 2023 – Jun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233B"/>
                </a:solidFill>
                <a:latin typeface="Aptos"/>
              </a:defRPr>
            </a:pPr>
            <a:r>
              <a:t>Jan–Jun revenue declined 19.1% from 2023 to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382"/>
                </a:solidFill>
                <a:latin typeface="Aptos"/>
              </a:defRPr>
            </a:pPr>
            <a:r>
              <a:t>Comparable first-half revenue decreased from 286.5K (2023) to 231.9K (2025).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658368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7382"/>
                </a:solidFill>
                <a:latin typeface="Aptos"/>
              </a:defRPr>
            </a:pPr>
            <a:r>
              <a:t>Source: Cleaned E-commerce Orders Dataset, Jan 2023 – Jun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233B"/>
                </a:solidFill>
                <a:latin typeface="Aptos"/>
              </a:defRPr>
            </a:pPr>
            <a:r>
              <a:t>Cancelled and Returned make up 41.4% of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382"/>
                </a:solidFill>
                <a:latin typeface="Aptos"/>
              </a:defRPr>
            </a:pPr>
            <a:r>
              <a:t>Only 19.2% of orders are Delivered in the dataset’s status distribution.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658368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7382"/>
                </a:solidFill>
                <a:latin typeface="Aptos"/>
              </a:defRPr>
            </a:pPr>
            <a:r>
              <a:t>Source: Cleaned E-commerce Orders Dataset, Jan 2023 – Jun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233B"/>
                </a:solidFill>
                <a:latin typeface="Aptos"/>
              </a:defRPr>
            </a:pPr>
            <a:r>
              <a:t>Credit Card has the highest average order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382"/>
                </a:solidFill>
                <a:latin typeface="Aptos"/>
              </a:defRPr>
            </a:pPr>
            <a:r>
              <a:t>Credit Card average order value is 1,128, ahead of Gift Card, Cash, Online, and Debit Card.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658368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7382"/>
                </a:solidFill>
                <a:latin typeface="Aptos"/>
              </a:defRPr>
            </a:pPr>
            <a:r>
              <a:t>Source: Cleaned E-commerce Orders Dataset, Jan 2023 – Jun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What should we do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DCCEE"/>
                </a:solidFill>
                <a:latin typeface="Aptos"/>
              </a:defRPr>
            </a:pPr>
            <a:r>
              <a:t>Three actions grounded in the patterns observed in this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27080" cy="1143000"/>
          </a:xfrm>
          <a:prstGeom prst="roundRect">
            <a:avLst/>
          </a:prstGeom>
          <a:solidFill>
            <a:srgbClr val="1F3552"/>
          </a:solidFill>
          <a:ln>
            <a:solidFill>
              <a:srgbClr val="3D5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2BE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555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Investigate order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9555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1E9F3"/>
                </a:solidFill>
                <a:latin typeface="Aptos"/>
              </a:defRPr>
            </a:pPr>
            <a:r>
              <a:t>Review the Cancelled and Returned share (41.4%) by product, payment method, and referral source to identify avoidable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10927080" cy="1143000"/>
          </a:xfrm>
          <a:prstGeom prst="roundRect">
            <a:avLst/>
          </a:prstGeom>
          <a:solidFill>
            <a:srgbClr val="1F3552"/>
          </a:solidFill>
          <a:ln>
            <a:solidFill>
              <a:srgbClr val="3D5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2BE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00400"/>
            <a:ext cx="9555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Diagnose revenue volatility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566160"/>
            <a:ext cx="9555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1E9F3"/>
                </a:solidFill>
                <a:latin typeface="Aptos"/>
              </a:defRPr>
            </a:pPr>
            <a:r>
              <a:t>Compare monthly peaks and dips with campaign timing, product mix, and order volume before changing inventory or budgets.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10927080" cy="1143000"/>
          </a:xfrm>
          <a:prstGeom prst="roundRect">
            <a:avLst/>
          </a:prstGeom>
          <a:solidFill>
            <a:srgbClr val="1F3552"/>
          </a:solidFill>
          <a:ln>
            <a:solidFill>
              <a:srgbClr val="3D5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2BE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617720"/>
            <a:ext cx="9555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Test channel and payment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983480"/>
            <a:ext cx="9555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1E9F3"/>
                </a:solidFill>
                <a:latin typeface="Aptos"/>
              </a:defRPr>
            </a:pPr>
            <a:r>
              <a:t>Run measured experiments around Instagram acquisition and the high-AOV Credit Card segment; track conversion and completed orders, not revenue alone.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DCCEE"/>
                </a:solidFill>
                <a:latin typeface="Aptos"/>
              </a:defRPr>
            </a:pPr>
            <a:r>
              <a:t>These recommendations propose further investigation and testing; they do not claim causation.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7382"/>
                </a:solidFill>
                <a:latin typeface="Aptos"/>
              </a:defRPr>
            </a:pPr>
            <a:r>
              <a:t>Source: Cleaned E-commerce Orders Dataset, Jan 2023 – Jun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38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